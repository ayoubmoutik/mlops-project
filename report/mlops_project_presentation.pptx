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6FF3"/>
          </a:solidFill>
          <a:ln w="12700">
            <a:solidFill>
              <a:srgbClr val="8B6F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06440" y="0"/>
            <a:ext cx="6382512" cy="6858000"/>
          </a:xfrm>
          <a:prstGeom prst="rect">
            <a:avLst/>
          </a:prstGeom>
          <a:solidFill>
            <a:srgbClr val="ED61B6">
              <a:alpha val="92000"/>
            </a:srgbClr>
          </a:solidFill>
          <a:ln w="12700">
            <a:solidFill>
              <a:srgbClr val="ED61B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pic>
        <p:nvPicPr>
          <p:cNvPr id="9" name="Image 0" descr="C:\Users\ayoub\Documents\BDIO\S2\Devops-MlOps\Exam projet\report\logos\bdio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75488" cy="621792"/>
          </a:xfrm>
          <a:prstGeom prst="rect">
            <a:avLst/>
          </a:prstGeom>
        </p:spPr>
      </p:pic>
      <p:pic>
        <p:nvPicPr>
          <p:cNvPr id="10" name="Image 1" descr="C:\Users\ayoub\Documents\BDIO\S2\Devops-MlOps\Exam projet\report\logos\ensam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384048"/>
            <a:ext cx="1005840" cy="38404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243584" y="1938528"/>
            <a:ext cx="96926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1874520" y="23317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6F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828800" y="2615184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6246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MLOps Workflow</a:t>
            </a:r>
            <a:endParaRPr lang="en-US" sz="3100" dirty="0"/>
          </a:p>
        </p:txBody>
      </p:sp>
      <p:sp>
        <p:nvSpPr>
          <p:cNvPr id="14" name="Text 10"/>
          <p:cNvSpPr/>
          <p:nvPr/>
        </p:nvSpPr>
        <p:spPr>
          <a:xfrm>
            <a:off x="2011680" y="32461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Dockerized Training, Model Serving, and Monitoring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057400" y="534924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MLOps Project | Academic Year 2025-2026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920240" y="57424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Elkhali  |  Ayoub Moutik  |  Jamila Ouzzane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At A Glance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 classification system wrapped in a practical MLOps workflow.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892808"/>
            <a:ext cx="1901952" cy="20848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EDF0F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1581912"/>
            <a:ext cx="1463040" cy="429768"/>
          </a:xfrm>
          <a:prstGeom prst="roundRect">
            <a:avLst>
              <a:gd name="adj" fmla="val 17021"/>
            </a:avLst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5956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2677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14447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notebook into reusable Python modules.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33472" y="2926080"/>
            <a:ext cx="292608" cy="0"/>
          </a:xfrm>
          <a:prstGeom prst="line">
            <a:avLst/>
          </a:prstGeom>
          <a:noFill/>
          <a:ln w="15240">
            <a:solidFill>
              <a:srgbClr val="D1D7E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1892808"/>
            <a:ext cx="1901952" cy="20848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EDF0F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63824" y="1581912"/>
            <a:ext cx="1463040" cy="429768"/>
          </a:xfrm>
          <a:prstGeom prst="roundRect">
            <a:avLst>
              <a:gd name="adj" fmla="val 17021"/>
            </a:avLst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63824" y="15956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72968" y="22677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Logging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72968" y="2697480"/>
            <a:ext cx="14447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training, evaluation, prediction, and errors.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292608" cy="0"/>
          </a:xfrm>
          <a:prstGeom prst="line">
            <a:avLst/>
          </a:prstGeom>
          <a:noFill/>
          <a:ln w="15240">
            <a:solidFill>
              <a:srgbClr val="D1D7E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57216" y="1892808"/>
            <a:ext cx="1901952" cy="20848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EDF0F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376672" y="1581912"/>
            <a:ext cx="1463040" cy="429768"/>
          </a:xfrm>
          <a:prstGeom prst="roundRect">
            <a:avLst>
              <a:gd name="adj" fmla="val 1702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76672" y="15956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85816" y="22677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85816" y="2697480"/>
            <a:ext cx="14447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code, data, dependencies, runs, and artifacts.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59168" y="2926080"/>
            <a:ext cx="292608" cy="0"/>
          </a:xfrm>
          <a:prstGeom prst="line">
            <a:avLst/>
          </a:prstGeom>
          <a:noFill/>
          <a:ln w="15240">
            <a:solidFill>
              <a:srgbClr val="D1D7E3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70064" y="1892808"/>
            <a:ext cx="1901952" cy="20848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EDF0F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589520" y="1581912"/>
            <a:ext cx="1463040" cy="429768"/>
          </a:xfrm>
          <a:prstGeom prst="roundRect">
            <a:avLst>
              <a:gd name="adj" fmla="val 17021"/>
            </a:avLst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0" y="15956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598664" y="22677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98664" y="2697480"/>
            <a:ext cx="14447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train, evaluate, push, and deploy with Jenkins.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272016" y="2926080"/>
            <a:ext cx="292608" cy="0"/>
          </a:xfrm>
          <a:prstGeom prst="line">
            <a:avLst/>
          </a:prstGeom>
          <a:noFill/>
          <a:ln w="15240">
            <a:solidFill>
              <a:srgbClr val="D1D7E3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582912" y="1892808"/>
            <a:ext cx="1901952" cy="20848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EDF0F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02368" y="1581912"/>
            <a:ext cx="1463040" cy="429768"/>
          </a:xfrm>
          <a:prstGeom prst="roundRect">
            <a:avLst>
              <a:gd name="adj" fmla="val 17021"/>
            </a:avLst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02368" y="15956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811512" y="22677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11512" y="2697480"/>
            <a:ext cx="14447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API health and model behavior after release.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97280" y="4645152"/>
            <a:ext cx="9966960" cy="749808"/>
          </a:xfrm>
          <a:prstGeom prst="roundRect">
            <a:avLst>
              <a:gd name="adj" fmla="val 9756"/>
            </a:avLst>
          </a:prstGeom>
          <a:solidFill>
            <a:srgbClr val="FAFB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417320" y="485546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objective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788920" y="482803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machine learning prototype into an observable, traceable, and automated delivery workflow.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68580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1 - Moving From Notebooks To Scripts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becomes a modular codebase that Jenkins and tests can execute.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983480" y="1261872"/>
            <a:ext cx="6537960" cy="4480560"/>
          </a:xfrm>
          <a:prstGeom prst="roundRect">
            <a:avLst>
              <a:gd name="adj" fmla="val 1633"/>
            </a:avLst>
          </a:prstGeom>
          <a:solidFill>
            <a:srgbClr val="FBFCFF"/>
          </a:solidFill>
          <a:ln w="8890">
            <a:solidFill>
              <a:srgbClr val="E7EBF2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C:\Users\ayoub\Documents\BDIO\S2\Devops-MlOps\Exam projet\report\figures\code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1488758"/>
            <a:ext cx="6208776" cy="388048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166360" y="5486400"/>
            <a:ext cx="6172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from report/figures/code_architecture.png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85800" y="1243584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125730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85800" y="168249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are excellent for exploration, but production workflows need deterministic modules and terminal commands.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13232" y="2578608"/>
            <a:ext cx="3794760" cy="457200"/>
          </a:xfrm>
          <a:prstGeom prst="roundRect">
            <a:avLst>
              <a:gd name="adj" fmla="val 16000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96112" y="2660904"/>
            <a:ext cx="292608" cy="292608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96112" y="268833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1335024" y="2679192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data.py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2240280" y="2679192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clean, tokenize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713232" y="3273552"/>
            <a:ext cx="3794760" cy="457200"/>
          </a:xfrm>
          <a:prstGeom prst="roundRect">
            <a:avLst>
              <a:gd name="adj" fmla="val 16000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96112" y="3355848"/>
            <a:ext cx="292608" cy="292608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96112" y="33832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1335024" y="3374136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train.py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2240280" y="3374136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Train and checkpoints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713232" y="3968496"/>
            <a:ext cx="3794760" cy="457200"/>
          </a:xfrm>
          <a:prstGeom prst="roundRect">
            <a:avLst>
              <a:gd name="adj" fmla="val 16000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96112" y="4050792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96112" y="407822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1335024" y="4069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evaluate.py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2240280" y="4069080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class, and slice metrics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713232" y="4663440"/>
            <a:ext cx="3794760" cy="457200"/>
          </a:xfrm>
          <a:prstGeom prst="roundRect">
            <a:avLst>
              <a:gd name="adj" fmla="val 16000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6112" y="477316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1335024" y="4764024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serve.py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2240280" y="4764024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and optional Ray Serve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68580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2 - Logging For ML Systems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make training and serving behavior inspectable after the run finishes.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32120" y="1097280"/>
            <a:ext cx="5715000" cy="4069080"/>
          </a:xfrm>
          <a:prstGeom prst="roundRect">
            <a:avLst>
              <a:gd name="adj" fmla="val 1798"/>
            </a:avLst>
          </a:prstGeom>
          <a:solidFill>
            <a:srgbClr val="FBFCFF"/>
          </a:solidFill>
          <a:ln w="8890">
            <a:solidFill>
              <a:srgbClr val="E7EBF2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C:\Users\ayoub\Documents\BDIO\S2\Devops-MlOps\Exam projet\report\figures\foundations_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375601"/>
            <a:ext cx="5385816" cy="336613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4910328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from report/figures/foundations_evidence.png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713232" y="1243584"/>
            <a:ext cx="1508760" cy="329184"/>
          </a:xfrm>
          <a:prstGeom prst="roundRect">
            <a:avLst>
              <a:gd name="adj" fmla="val 22222"/>
            </a:avLst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257300"/>
            <a:ext cx="1508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FLOW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527048" y="2377440"/>
            <a:ext cx="1170432" cy="0"/>
          </a:xfrm>
          <a:prstGeom prst="line">
            <a:avLst/>
          </a:prstGeom>
          <a:noFill/>
          <a:ln w="17780">
            <a:solidFill>
              <a:srgbClr val="DADFE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8680" y="1920240"/>
            <a:ext cx="658368" cy="658368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8680" y="194767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0936" y="272491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code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76072" y="294436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logger.info / errors</a:t>
            </a:r>
            <a:endParaRPr lang="en-US" sz="740" dirty="0"/>
          </a:p>
        </p:txBody>
      </p:sp>
      <p:sp>
        <p:nvSpPr>
          <p:cNvPr id="19" name="Shape 16"/>
          <p:cNvSpPr/>
          <p:nvPr/>
        </p:nvSpPr>
        <p:spPr>
          <a:xfrm>
            <a:off x="2606040" y="2468880"/>
            <a:ext cx="1170432" cy="0"/>
          </a:xfrm>
          <a:prstGeom prst="line">
            <a:avLst/>
          </a:prstGeom>
          <a:noFill/>
          <a:ln w="17780">
            <a:solidFill>
              <a:srgbClr val="DADFE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47672" y="2011680"/>
            <a:ext cx="658368" cy="658368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947672" y="203911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709928" y="28163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Handlers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655064" y="303580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+ rotating files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685032" y="2377440"/>
            <a:ext cx="1170432" cy="0"/>
          </a:xfrm>
          <a:prstGeom prst="line">
            <a:avLst/>
          </a:prstGeom>
          <a:noFill/>
          <a:ln w="17780">
            <a:solidFill>
              <a:srgbClr val="DADF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26664" y="1920240"/>
            <a:ext cx="658368" cy="6583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026664" y="194767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2788920" y="272491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Artifacts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2734056" y="294436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info.log and error.log</a:t>
            </a:r>
            <a:endParaRPr lang="en-US" sz="740" dirty="0"/>
          </a:p>
        </p:txBody>
      </p:sp>
      <p:sp>
        <p:nvSpPr>
          <p:cNvPr id="29" name="Shape 26"/>
          <p:cNvSpPr/>
          <p:nvPr/>
        </p:nvSpPr>
        <p:spPr>
          <a:xfrm>
            <a:off x="4105656" y="2011680"/>
            <a:ext cx="658368" cy="658368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4105656" y="203911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3867912" y="28163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813048" y="303580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debug, trace, explain</a:t>
            </a:r>
            <a:endParaRPr lang="en-US" sz="740" dirty="0"/>
          </a:p>
        </p:txBody>
      </p:sp>
      <p:sp>
        <p:nvSpPr>
          <p:cNvPr id="33" name="Shape 30"/>
          <p:cNvSpPr/>
          <p:nvPr/>
        </p:nvSpPr>
        <p:spPr>
          <a:xfrm>
            <a:off x="749808" y="4160520"/>
            <a:ext cx="4334256" cy="1078992"/>
          </a:xfrm>
          <a:prstGeom prst="roundRect">
            <a:avLst>
              <a:gd name="adj" fmla="val 6780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69264" y="4416552"/>
            <a:ext cx="39136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9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lives in madewithml/config.py.</a:t>
            </a:r>
            <a:endParaRPr lang="en-US" sz="940" dirty="0"/>
          </a:p>
          <a:p>
            <a:pPr marL="342900" indent="-342900">
              <a:buSzPct val="100000"/>
              <a:buChar char="•"/>
            </a:pPr>
            <a:r>
              <a:rPr lang="en-US" sz="9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logs run ID, parameters, and metric history.</a:t>
            </a:r>
            <a:endParaRPr lang="en-US" sz="940" dirty="0"/>
          </a:p>
          <a:p>
            <a:pPr marL="342900" indent="-342900">
              <a:buSzPct val="100000"/>
              <a:buChar char="•"/>
            </a:pPr>
            <a:r>
              <a:rPr lang="en-US" sz="9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and prediction logs support troubleshooting.</a:t>
            </a:r>
            <a:endParaRPr lang="en-US" sz="940" dirty="0"/>
          </a:p>
        </p:txBody>
      </p:sp>
      <p:sp>
        <p:nvSpPr>
          <p:cNvPr id="35" name="Text 32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685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3 - Reproducibility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is useful only when the team can explain and recreate it.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325880" y="2788920"/>
            <a:ext cx="9217152" cy="0"/>
          </a:xfrm>
          <a:prstGeom prst="line">
            <a:avLst/>
          </a:prstGeom>
          <a:noFill/>
          <a:ln w="27940">
            <a:solidFill>
              <a:srgbClr val="D7DC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359152"/>
            <a:ext cx="713232" cy="713232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386584"/>
            <a:ext cx="713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246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53872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history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3063240" y="2359152"/>
            <a:ext cx="713232" cy="713232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063240" y="2386584"/>
            <a:ext cx="713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3246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requirements.txt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24328" y="353872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versions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257800" y="2359152"/>
            <a:ext cx="713232" cy="7132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57800" y="2386584"/>
            <a:ext cx="713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246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datasets/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18888" y="353872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 versioning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7452360" y="2359152"/>
            <a:ext cx="713232" cy="713232"/>
          </a:xfrm>
          <a:prstGeom prst="ellipse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52360" y="2386584"/>
            <a:ext cx="713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246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13448" y="353872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runs, params, metrics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9646920" y="2359152"/>
            <a:ext cx="713232" cy="713232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646920" y="2386584"/>
            <a:ext cx="713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246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Checkpoints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08008" y="353872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960120" y="4599432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234440" y="47823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evidence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06040" y="4754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utilities, Ray checkpoints, MLflow file URI, tracked datasets, and archived CI artifacts.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309360" y="4599432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83680" y="47823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path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65008" y="47548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large data and artifacts to DVC, object storage, or a remote MLflow server.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685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And Model Lifecycle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reproducibility layer connects data, training, evaluation, serving, and monitoring.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96112" y="1124712"/>
            <a:ext cx="3520440" cy="4892040"/>
          </a:xfrm>
          <a:prstGeom prst="roundRect">
            <a:avLst>
              <a:gd name="adj" fmla="val 2078"/>
            </a:avLst>
          </a:prstGeom>
          <a:solidFill>
            <a:srgbClr val="FBFCFF"/>
          </a:solidFill>
          <a:ln w="8890">
            <a:solidFill>
              <a:srgbClr val="E7EBF2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C:\Users\ayoub\Documents\BDIO\S2\Devops-MlOps\Exam projet\report\figures\ml_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3390" y="1307592"/>
            <a:ext cx="1985883" cy="437997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78992" y="576072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from report/figures/ml_lifecycle.png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892040" y="1298448"/>
            <a:ext cx="6263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166360" y="1435608"/>
            <a:ext cx="420624" cy="420624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66360" y="146304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788152" y="14173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and preprocess</a:t>
            </a:r>
            <a:endParaRPr lang="en-US" sz="1020" dirty="0"/>
          </a:p>
        </p:txBody>
      </p:sp>
      <p:sp>
        <p:nvSpPr>
          <p:cNvPr id="16" name="Text 13"/>
          <p:cNvSpPr/>
          <p:nvPr/>
        </p:nvSpPr>
        <p:spPr>
          <a:xfrm>
            <a:off x="5788152" y="1673352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 is cleaned, tokenized, and split with stratification.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2377440"/>
            <a:ext cx="6263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166360" y="2514600"/>
            <a:ext cx="420624" cy="420624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166360" y="2542032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788152" y="249631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 and track</a:t>
            </a:r>
            <a:endParaRPr lang="en-US" sz="1020" dirty="0"/>
          </a:p>
        </p:txBody>
      </p:sp>
      <p:sp>
        <p:nvSpPr>
          <p:cNvPr id="21" name="Text 18"/>
          <p:cNvSpPr/>
          <p:nvPr/>
        </p:nvSpPr>
        <p:spPr>
          <a:xfrm>
            <a:off x="5788152" y="2752344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Train writes checkpoints while MLflow records params and metrics.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892040" y="3456432"/>
            <a:ext cx="6263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66360" y="3593592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166360" y="362102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788152" y="35753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 and gate</a:t>
            </a:r>
            <a:endParaRPr lang="en-US" sz="1020" dirty="0"/>
          </a:p>
        </p:txBody>
      </p:sp>
      <p:sp>
        <p:nvSpPr>
          <p:cNvPr id="26" name="Text 23"/>
          <p:cNvSpPr/>
          <p:nvPr/>
        </p:nvSpPr>
        <p:spPr>
          <a:xfrm>
            <a:off x="5788152" y="383133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 plus class and slice metrics decide deployability.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892040" y="4535424"/>
            <a:ext cx="6263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166360" y="4672584"/>
            <a:ext cx="420624" cy="420624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5166360" y="4700016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788152" y="46542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 and observe</a:t>
            </a:r>
            <a:endParaRPr lang="en-US" sz="1020" dirty="0"/>
          </a:p>
        </p:txBody>
      </p:sp>
      <p:sp>
        <p:nvSpPr>
          <p:cNvPr id="31" name="Text 28"/>
          <p:cNvSpPr/>
          <p:nvPr/>
        </p:nvSpPr>
        <p:spPr>
          <a:xfrm>
            <a:off x="5788152" y="4910328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exposes predictions and Prometheus-format metrics.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68580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4 - Dockerized Jenkins CI/CD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validates both software correctness and model quality before deployment.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85800" y="1024128"/>
            <a:ext cx="3931920" cy="5349240"/>
          </a:xfrm>
          <a:prstGeom prst="roundRect">
            <a:avLst>
              <a:gd name="adj" fmla="val 1860"/>
            </a:avLst>
          </a:prstGeom>
          <a:solidFill>
            <a:srgbClr val="FBFCFF"/>
          </a:solidFill>
          <a:ln w="8890">
            <a:solidFill>
              <a:srgbClr val="E7EBF2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C:\Users\ayoub\Documents\BDIO\S2\Devops-MlOps\Exam projet\report\figures\cicd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552" y="1207008"/>
            <a:ext cx="3252416" cy="483717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17336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from report/figures/cicd_pipeline.png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193792" y="137160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358384" y="153619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58384" y="154990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943600" y="155448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Checkout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943600" y="18105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source code from GitHub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8193024" y="137160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57616" y="153619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57616" y="154990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942832" y="155448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image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8942832" y="18105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versioned Docker image</a:t>
            </a:r>
            <a:endParaRPr lang="en-US" sz="830" dirty="0"/>
          </a:p>
        </p:txBody>
      </p:sp>
      <p:sp>
        <p:nvSpPr>
          <p:cNvPr id="22" name="Shape 19"/>
          <p:cNvSpPr/>
          <p:nvPr/>
        </p:nvSpPr>
        <p:spPr>
          <a:xfrm>
            <a:off x="5193792" y="260604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358384" y="277063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58384" y="278434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943600" y="278892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 checks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943600" y="304495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compileall, pytest, critical flake8</a:t>
            </a:r>
            <a:endParaRPr lang="en-US" sz="830" dirty="0"/>
          </a:p>
        </p:txBody>
      </p:sp>
      <p:sp>
        <p:nvSpPr>
          <p:cNvPr id="27" name="Shape 24"/>
          <p:cNvSpPr/>
          <p:nvPr/>
        </p:nvSpPr>
        <p:spPr>
          <a:xfrm>
            <a:off x="8193024" y="260604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357616" y="277063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57616" y="278434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942832" y="278892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980" dirty="0"/>
          </a:p>
        </p:txBody>
      </p:sp>
      <p:sp>
        <p:nvSpPr>
          <p:cNvPr id="31" name="Text 28"/>
          <p:cNvSpPr/>
          <p:nvPr/>
        </p:nvSpPr>
        <p:spPr>
          <a:xfrm>
            <a:off x="8942832" y="304495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containerized Ray training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193792" y="384048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358384" y="400507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58384" y="401878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943600" y="402336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</a:t>
            </a:r>
            <a:endParaRPr lang="en-US" sz="980" dirty="0"/>
          </a:p>
        </p:txBody>
      </p:sp>
      <p:sp>
        <p:nvSpPr>
          <p:cNvPr id="36" name="Text 33"/>
          <p:cNvSpPr/>
          <p:nvPr/>
        </p:nvSpPr>
        <p:spPr>
          <a:xfrm>
            <a:off x="5943600" y="427939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weighted F1 to MIN_F1</a:t>
            </a:r>
            <a:endParaRPr lang="en-US" sz="830" dirty="0"/>
          </a:p>
        </p:txBody>
      </p:sp>
      <p:sp>
        <p:nvSpPr>
          <p:cNvPr id="37" name="Shape 34"/>
          <p:cNvSpPr/>
          <p:nvPr/>
        </p:nvSpPr>
        <p:spPr>
          <a:xfrm>
            <a:off x="8193024" y="3840480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357616" y="4005072"/>
            <a:ext cx="475488" cy="310896"/>
          </a:xfrm>
          <a:prstGeom prst="roundRect">
            <a:avLst>
              <a:gd name="adj" fmla="val 23529"/>
            </a:avLst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57616" y="4018788"/>
            <a:ext cx="4754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942832" y="4023360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8942832" y="427939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API and run smoke tests</a:t>
            </a:r>
            <a:endParaRPr lang="en-US" sz="830" dirty="0"/>
          </a:p>
        </p:txBody>
      </p:sp>
      <p:sp>
        <p:nvSpPr>
          <p:cNvPr id="42" name="Shape 39"/>
          <p:cNvSpPr/>
          <p:nvPr/>
        </p:nvSpPr>
        <p:spPr>
          <a:xfrm>
            <a:off x="5266944" y="5248656"/>
            <a:ext cx="5577840" cy="566928"/>
          </a:xfrm>
          <a:prstGeom prst="roundRect">
            <a:avLst>
              <a:gd name="adj" fmla="val 12903"/>
            </a:avLst>
          </a:prstGeom>
          <a:solidFill>
            <a:srgbClr val="FFF9E8"/>
          </a:solidFill>
          <a:ln w="8890">
            <a:solidFill>
              <a:srgbClr val="F4E5B5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7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5550408" y="5422392"/>
            <a:ext cx="4983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A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gate: weighted F1 = 0.9055 passed MIN_F1 = 0.85 and promoted the model.</a:t>
            </a:r>
            <a:endParaRPr lang="en-US" sz="920" dirty="0"/>
          </a:p>
        </p:txBody>
      </p:sp>
      <p:sp>
        <p:nvSpPr>
          <p:cNvPr id="44" name="Text 41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68580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Decision Flow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only promotes a model after the code, training job, evaluation, and smoke checks pass.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143000" y="2926080"/>
            <a:ext cx="9921240" cy="0"/>
          </a:xfrm>
          <a:prstGeom prst="line">
            <a:avLst/>
          </a:prstGeom>
          <a:noFill/>
          <a:ln w="27940">
            <a:solidFill>
              <a:srgbClr val="D7DC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7552" y="2404872"/>
            <a:ext cx="841248" cy="841248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87552" y="2432304"/>
            <a:ext cx="841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" y="3520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" y="385876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44952" y="2404872"/>
            <a:ext cx="841248" cy="841248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044952" y="2432304"/>
            <a:ext cx="841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42032" y="3520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9464" y="385876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 passed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02352" y="2404872"/>
            <a:ext cx="841248" cy="8412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02352" y="2432304"/>
            <a:ext cx="841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520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26864" y="385876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run ID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59752" y="2404872"/>
            <a:ext cx="841248" cy="841248"/>
          </a:xfrm>
          <a:prstGeom prst="ellipse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159752" y="2432304"/>
            <a:ext cx="841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56832" y="3520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84264" y="385876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217152" y="2404872"/>
            <a:ext cx="841248" cy="841248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17152" y="2432304"/>
            <a:ext cx="841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714232" y="3520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41664" y="385876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:8000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97280" y="4983480"/>
            <a:ext cx="4617720" cy="685800"/>
          </a:xfrm>
          <a:prstGeom prst="roundRect">
            <a:avLst>
              <a:gd name="adj" fmla="val 10667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389888" y="51663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Artifacts archived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017520" y="516636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train_results.json, eval_results.json, run_id.txt, metrics_smoke.txt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6492240" y="4983480"/>
            <a:ext cx="4617720" cy="685800"/>
          </a:xfrm>
          <a:prstGeom prst="roundRect">
            <a:avLst>
              <a:gd name="adj" fmla="val 10667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84848" y="516636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choice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11312" y="5138928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was selected for stable local deployment; Ray remains in training and evaluation.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68580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5 - Monitoring Architecture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deployment, the model API is measured by Prometheus and visualized in Grafana.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89320" y="1078992"/>
            <a:ext cx="4846320" cy="4983480"/>
          </a:xfrm>
          <a:prstGeom prst="roundRect">
            <a:avLst>
              <a:gd name="adj" fmla="val 1509"/>
            </a:avLst>
          </a:prstGeom>
          <a:solidFill>
            <a:srgbClr val="FBFCFF"/>
          </a:solidFill>
          <a:ln w="8890">
            <a:solidFill>
              <a:srgbClr val="E7EBF2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C:\Users\ayoub\Documents\BDIO\S2\Devops-MlOps\Exam projet\report\figures\monitorin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2965" y="1261872"/>
            <a:ext cx="4019029" cy="447141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72200" y="5806440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from report/figures/monitoring_architecture.png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777240" y="1417320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42416" y="1554480"/>
            <a:ext cx="402336" cy="402336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042416" y="158191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1664208" y="1536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962656" y="154533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builds, trains, deploys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777240" y="2496312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1042416" y="2633472"/>
            <a:ext cx="402336" cy="402336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1042416" y="2660904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1664208" y="26151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API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962656" y="262432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and exposes /metrics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777240" y="3575304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42416" y="3712464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042416" y="3739896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820" dirty="0"/>
          </a:p>
        </p:txBody>
      </p:sp>
      <p:sp>
        <p:nvSpPr>
          <p:cNvPr id="25" name="Text 22"/>
          <p:cNvSpPr/>
          <p:nvPr/>
        </p:nvSpPr>
        <p:spPr>
          <a:xfrm>
            <a:off x="1664208" y="369417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962656" y="37033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API metrics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777240" y="4654296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042416" y="4791456"/>
            <a:ext cx="402336" cy="402336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1042416" y="4818888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820" dirty="0"/>
          </a:p>
        </p:txBody>
      </p:sp>
      <p:sp>
        <p:nvSpPr>
          <p:cNvPr id="30" name="Text 27"/>
          <p:cNvSpPr/>
          <p:nvPr/>
        </p:nvSpPr>
        <p:spPr>
          <a:xfrm>
            <a:off x="1664208" y="47731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Grafana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962656" y="4782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visualizes behavior</a:t>
            </a:r>
            <a:endParaRPr lang="en-US" sz="860" dirty="0"/>
          </a:p>
        </p:txBody>
      </p:sp>
      <p:sp>
        <p:nvSpPr>
          <p:cNvPr id="32" name="Text 29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68580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Metrics, Drift, And Findings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monitoring layer checks API health and model behavior, then guides action.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49808" y="1371600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1572768"/>
            <a:ext cx="438912" cy="438912"/>
          </a:xfrm>
          <a:prstGeom prst="ellipse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160020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554480" y="1572768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rate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54480" y="18562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mlopsfull_requests_total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453128" y="1371600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54296" y="1572768"/>
            <a:ext cx="438912" cy="438912"/>
          </a:xfrm>
          <a:prstGeom prst="ellipse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54296" y="160020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57800" y="1572768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8562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request_latency_seconds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8156448" y="1371600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1572768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160020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961120" y="1572768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61120" y="18562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predictions_total by class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49808" y="2633472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0976" y="2834640"/>
            <a:ext cx="438912" cy="438912"/>
          </a:xfrm>
          <a:prstGeom prst="ellipse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0976" y="286207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554480" y="2834640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554480" y="311810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prediction_confidence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453128" y="2633472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54296" y="2834640"/>
            <a:ext cx="438912" cy="438912"/>
          </a:xfrm>
          <a:prstGeom prst="ellipse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54296" y="286207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257800" y="2834640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 quality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311810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validation_failures_total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8156448" y="2633472"/>
            <a:ext cx="3127248" cy="868680"/>
          </a:xfrm>
          <a:prstGeom prst="roundRect">
            <a:avLst>
              <a:gd name="adj" fmla="val 8421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57616" y="2834640"/>
            <a:ext cx="438912" cy="438912"/>
          </a:xfrm>
          <a:prstGeom prst="ellipse">
            <a:avLst/>
          </a:prstGeom>
          <a:solidFill>
            <a:srgbClr val="0EA5A6"/>
          </a:solidFill>
          <a:ln w="12700">
            <a:solidFill>
              <a:srgbClr val="0EA5A6"/>
            </a:solidFill>
            <a:prstDash val="solid"/>
          </a:ln>
          <a:effectLst>
            <a:outerShdw sx="100000" sy="100000" kx="0" ky="0" algn="bl" rotWithShape="0" blurRad="19050" dist="10160" dir="2700000">
              <a:srgbClr val="000000">
                <a:alpha val="11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357616" y="286207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961120" y="2834640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961120" y="311810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and class distribution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987552" y="4526280"/>
            <a:ext cx="10149840" cy="841248"/>
          </a:xfrm>
          <a:prstGeom prst="roundRect">
            <a:avLst>
              <a:gd name="adj" fmla="val 8696"/>
            </a:avLst>
          </a:prstGeom>
          <a:solidFill>
            <a:srgbClr val="F5FFF8"/>
          </a:solidFill>
          <a:ln w="8890">
            <a:solidFill>
              <a:srgbClr val="D8F0DF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298448" y="473659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F6F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 demo finding</a:t>
            </a:r>
            <a:endParaRPr lang="en-US" sz="1080" dirty="0"/>
          </a:p>
        </p:txBody>
      </p:sp>
      <p:sp>
        <p:nvSpPr>
          <p:cNvPr id="41" name="Text 39"/>
          <p:cNvSpPr/>
          <p:nvPr/>
        </p:nvSpPr>
        <p:spPr>
          <a:xfrm>
            <a:off x="3246120" y="4645152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15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handled 200 prediction requests with 0 HTTP errors. Monitoring showed predictions across all classes with average confidence around 0.9285.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And Future Improvements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12064" y="74980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the workflow locally; production hardening is the next step.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87552" y="1481328"/>
            <a:ext cx="4663440" cy="4160520"/>
          </a:xfrm>
          <a:prstGeom prst="roundRect">
            <a:avLst>
              <a:gd name="adj" fmla="val 1758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335024" y="175564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176936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limitations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45920" y="2487168"/>
            <a:ext cx="356616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Docker-based stack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training dataset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F1 deployment gate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helpers are not scheduled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 routing yet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19672" y="1481328"/>
            <a:ext cx="4663440" cy="4160520"/>
          </a:xfrm>
          <a:prstGeom prst="roundRect">
            <a:avLst>
              <a:gd name="adj" fmla="val 1758"/>
            </a:avLst>
          </a:prstGeom>
          <a:solidFill>
            <a:srgbClr val="FBFCFF"/>
          </a:solidFill>
          <a:ln w="8890">
            <a:solidFill>
              <a:srgbClr val="ECEFF6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67144" y="175564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67144" y="176936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improvements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78040" y="2487168"/>
            <a:ext cx="356616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labeled training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release thresholds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Prometheus alert rules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prediction events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toward Kubernetes or managed 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5AB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Exam Project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338560" y="64282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5AB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0"/>
            <a:ext cx="4937760" cy="6858000"/>
          </a:xfrm>
          <a:prstGeom prst="rect">
            <a:avLst/>
          </a:prstGeom>
          <a:solidFill>
            <a:srgbClr val="70B957">
              <a:alpha val="82000"/>
            </a:srgbClr>
          </a:solidFill>
          <a:ln w="12700">
            <a:solidFill>
              <a:srgbClr val="70B9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59952" y="118872"/>
            <a:ext cx="384048" cy="50292"/>
          </a:xfrm>
          <a:prstGeom prst="rect">
            <a:avLst/>
          </a:prstGeom>
          <a:solidFill>
            <a:srgbClr val="7465F3"/>
          </a:solidFill>
          <a:ln w="12700">
            <a:solidFill>
              <a:srgbClr val="746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71432" y="118872"/>
            <a:ext cx="384048" cy="50292"/>
          </a:xfrm>
          <a:prstGeom prst="rect">
            <a:avLst/>
          </a:prstGeom>
          <a:solidFill>
            <a:srgbClr val="EC5BB8"/>
          </a:solidFill>
          <a:ln w="12700">
            <a:solidFill>
              <a:srgbClr val="EC5B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82912" y="118872"/>
            <a:ext cx="384048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94392" y="118872"/>
            <a:ext cx="384048" cy="50292"/>
          </a:xfrm>
          <a:prstGeom prst="rect">
            <a:avLst/>
          </a:prstGeom>
          <a:solidFill>
            <a:srgbClr val="F8D53D"/>
          </a:solidFill>
          <a:ln w="12700">
            <a:solidFill>
              <a:srgbClr val="F8D5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05872" y="118872"/>
            <a:ext cx="384048" cy="50292"/>
          </a:xfrm>
          <a:prstGeom prst="rect">
            <a:avLst/>
          </a:prstGeom>
          <a:solidFill>
            <a:srgbClr val="70B957"/>
          </a:solidFill>
          <a:ln w="12700">
            <a:solidFill>
              <a:srgbClr val="70B9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008" y="1417320"/>
            <a:ext cx="97840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9050" dist="889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0" y="1828800"/>
            <a:ext cx="8549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465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Takeaway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267712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283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project is more than a trained model.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057400" y="2999232"/>
            <a:ext cx="8092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operational workflow where code changes trigger validation, training creates tracked artifacts, deployment is gated by evaluation, and the running service is monitored after release.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11680" y="535838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-&gt; Logging -&gt; Reproducibility -&gt; CI/CD -&gt; Monitoring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BDIO / ENSAM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MLOps Workflow</dc:title>
  <dc:subject>MLOps Exam Project</dc:subject>
  <dc:creator>Ayoub Moutik</dc:creator>
  <cp:lastModifiedBy>Ayoub Moutik</cp:lastModifiedBy>
  <cp:revision>1</cp:revision>
  <dcterms:created xsi:type="dcterms:W3CDTF">2026-05-22T15:48:23Z</dcterms:created>
  <dcterms:modified xsi:type="dcterms:W3CDTF">2026-05-22T15:48:23Z</dcterms:modified>
</cp:coreProperties>
</file>