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6FF3"/>
          </a:solidFill>
          <a:ln w="12700">
            <a:solidFill>
              <a:srgbClr val="8B6F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06440" y="0"/>
            <a:ext cx="6382512" cy="6858000"/>
          </a:xfrm>
          <a:prstGeom prst="rect">
            <a:avLst/>
          </a:prstGeom>
          <a:solidFill>
            <a:srgbClr val="ED61B6">
              <a:alpha val="92000"/>
            </a:srgbClr>
          </a:solidFill>
          <a:ln w="12700">
            <a:solidFill>
              <a:srgbClr val="ED61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pic>
        <p:nvPicPr>
          <p:cNvPr id="9" name="Image 0" descr="C:\Users\ayoub\Documents\BDIO\S2\Devops-MlOps\Exam projet\report\logos\bdio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475488" cy="621792"/>
          </a:xfrm>
          <a:prstGeom prst="rect">
            <a:avLst/>
          </a:prstGeom>
        </p:spPr>
      </p:pic>
      <p:pic>
        <p:nvPicPr>
          <p:cNvPr id="10" name="Image 1" descr="C:\Users\ayoub\Documents\BDIO\S2\Devops-MlOps\Exam projet\report\logos\ensam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384048"/>
            <a:ext cx="1005840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243584" y="1938528"/>
            <a:ext cx="9692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874520" y="2331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6F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828800" y="261518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6246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Workflow</a:t>
            </a:r>
            <a:endParaRPr lang="en-US" sz="3100" dirty="0"/>
          </a:p>
        </p:txBody>
      </p:sp>
      <p:sp>
        <p:nvSpPr>
          <p:cNvPr id="14" name="Text 10"/>
          <p:cNvSpPr/>
          <p:nvPr/>
        </p:nvSpPr>
        <p:spPr>
          <a:xfrm>
            <a:off x="2011680" y="3246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Dockerized Training, Model Serving, and Monitoring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057400" y="5349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MLOps Project | Academic Year 2025-2026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920240" y="57424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Elkhali  |  Ayoub Moutik  |  Jamila Ouzzane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At A Glance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classification system wrapped in a practical MLOps workflow.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1901952" cy="20848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EDF0F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1581912"/>
            <a:ext cx="1463040" cy="429768"/>
          </a:xfrm>
          <a:prstGeom prst="roundRect">
            <a:avLst>
              <a:gd name="adj" fmla="val 17021"/>
            </a:avLst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5956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1444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notebook into reusable Python modules.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33472" y="2926080"/>
            <a:ext cx="292608" cy="0"/>
          </a:xfrm>
          <a:prstGeom prst="line">
            <a:avLst/>
          </a:prstGeom>
          <a:noFill/>
          <a:ln w="15240">
            <a:solidFill>
              <a:srgbClr val="D1D7E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4368" y="1892808"/>
            <a:ext cx="1901952" cy="20848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EDF0F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63824" y="1581912"/>
            <a:ext cx="1463040" cy="429768"/>
          </a:xfrm>
          <a:prstGeom prst="roundRect">
            <a:avLst>
              <a:gd name="adj" fmla="val 17021"/>
            </a:avLst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15956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72968" y="22677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72968" y="2697480"/>
            <a:ext cx="1444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training, evaluation, prediction, and errors.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292608" cy="0"/>
          </a:xfrm>
          <a:prstGeom prst="line">
            <a:avLst/>
          </a:prstGeom>
          <a:noFill/>
          <a:ln w="15240">
            <a:solidFill>
              <a:srgbClr val="D1D7E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57216" y="1892808"/>
            <a:ext cx="1901952" cy="20848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EDF0F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76672" y="1581912"/>
            <a:ext cx="1463040" cy="429768"/>
          </a:xfrm>
          <a:prstGeom prst="roundRect">
            <a:avLst>
              <a:gd name="adj" fmla="val 170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5956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85816" y="22677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85816" y="2697480"/>
            <a:ext cx="1444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code, data, dependencies, runs, and artifacts.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59168" y="2926080"/>
            <a:ext cx="292608" cy="0"/>
          </a:xfrm>
          <a:prstGeom prst="line">
            <a:avLst/>
          </a:prstGeom>
          <a:noFill/>
          <a:ln w="15240">
            <a:solidFill>
              <a:srgbClr val="D1D7E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70064" y="1892808"/>
            <a:ext cx="1901952" cy="20848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EDF0F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89520" y="1581912"/>
            <a:ext cx="1463040" cy="429768"/>
          </a:xfrm>
          <a:prstGeom prst="roundRect">
            <a:avLst>
              <a:gd name="adj" fmla="val 17021"/>
            </a:avLst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5956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98664" y="22677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98664" y="2697480"/>
            <a:ext cx="1444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train, evaluate, push, and deploy with Jenkins.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72016" y="2926080"/>
            <a:ext cx="292608" cy="0"/>
          </a:xfrm>
          <a:prstGeom prst="line">
            <a:avLst/>
          </a:prstGeom>
          <a:noFill/>
          <a:ln w="15240">
            <a:solidFill>
              <a:srgbClr val="D1D7E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82912" y="1892808"/>
            <a:ext cx="1901952" cy="20848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8890">
            <a:solidFill>
              <a:srgbClr val="EDF0F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02368" y="1581912"/>
            <a:ext cx="1463040" cy="429768"/>
          </a:xfrm>
          <a:prstGeom prst="roundRect">
            <a:avLst>
              <a:gd name="adj" fmla="val 17021"/>
            </a:avLst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2368" y="15956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11512" y="22677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11512" y="2697480"/>
            <a:ext cx="1444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API health and model behavior after release.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97280" y="4645152"/>
            <a:ext cx="9966960" cy="749808"/>
          </a:xfrm>
          <a:prstGeom prst="roundRect">
            <a:avLst>
              <a:gd name="adj" fmla="val 9756"/>
            </a:avLst>
          </a:prstGeom>
          <a:solidFill>
            <a:srgbClr val="FAFB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17320" y="48554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objective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88920" y="482803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machine learning prototype into an observable, traceable, and automated delivery workflow.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68580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1 - Moving From Notebooks To Scripts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becomes a modular codebase that Jenkins and tests can execute.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1261872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BFCFF"/>
          </a:solidFill>
          <a:ln w="8890">
            <a:solidFill>
              <a:srgbClr val="E7EBF2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ayoub\Documents\BDIO\S2\Devops-MlOps\Exam projet\report\figures\cod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1488758"/>
            <a:ext cx="6208776" cy="38804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66360" y="5486400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report/figures/code_architecture.png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85800" y="124358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12573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16824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are excellent for exploration, but production workflows need deterministic modules and terminal commands.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" y="2578608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2660904"/>
            <a:ext cx="292608" cy="292608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96112" y="26883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335024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data.py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2240280" y="267919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split, clean, tokenize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713232" y="3273552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96112" y="3355848"/>
            <a:ext cx="292608" cy="292608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96112" y="33832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335024" y="337413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train.py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2240280" y="337413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Train and checkpoints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713232" y="3968496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6112" y="405079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96112" y="40782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335024" y="4069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evaluate.py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2240280" y="406908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class, and slice metrics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713232" y="4663440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96112" y="477316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335024" y="476402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serve.py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2240280" y="476402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and optional Ray Serve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68580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2 - Logging For ML Systems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make training and serving behavior inspectable after the run finishes.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1097280"/>
            <a:ext cx="5715000" cy="4069080"/>
          </a:xfrm>
          <a:prstGeom prst="roundRect">
            <a:avLst>
              <a:gd name="adj" fmla="val 1798"/>
            </a:avLst>
          </a:prstGeom>
          <a:solidFill>
            <a:srgbClr val="FBFCFF"/>
          </a:solidFill>
          <a:ln w="8890">
            <a:solidFill>
              <a:srgbClr val="E7EBF2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ayoub\Documents\BDIO\S2\Devops-MlOps\Exam projet\report\figures\foundations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375601"/>
            <a:ext cx="5385816" cy="33661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491032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report/figures/foundations_evidence.png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13232" y="1243584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125730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FLOW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527048" y="2377440"/>
            <a:ext cx="1170432" cy="0"/>
          </a:xfrm>
          <a:prstGeom prst="line">
            <a:avLst/>
          </a:prstGeom>
          <a:noFill/>
          <a:ln w="17780">
            <a:solidFill>
              <a:srgbClr val="DADF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194767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" y="2724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code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6072" y="2944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logger.info / errors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2606040" y="2468880"/>
            <a:ext cx="1170432" cy="0"/>
          </a:xfrm>
          <a:prstGeom prst="line">
            <a:avLst/>
          </a:prstGeom>
          <a:noFill/>
          <a:ln w="17780">
            <a:solidFill>
              <a:srgbClr val="DADF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47672" y="2011680"/>
            <a:ext cx="658368" cy="658368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947672" y="203911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709928" y="28163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Handlers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655064" y="303580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rotating files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685032" y="2377440"/>
            <a:ext cx="1170432" cy="0"/>
          </a:xfrm>
          <a:prstGeom prst="line">
            <a:avLst/>
          </a:prstGeom>
          <a:noFill/>
          <a:ln w="17780">
            <a:solidFill>
              <a:srgbClr val="DADF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26664" y="192024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26664" y="194767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88920" y="2724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2734056" y="2944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info.log and error.log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4105656" y="2011680"/>
            <a:ext cx="658368" cy="658368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105656" y="203911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867912" y="28163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813048" y="303580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trace, explain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749808" y="4160520"/>
            <a:ext cx="4334256" cy="1078992"/>
          </a:xfrm>
          <a:prstGeom prst="roundRect">
            <a:avLst>
              <a:gd name="adj" fmla="val 6780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69264" y="4416552"/>
            <a:ext cx="39136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in madewithml/config.py.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logs run ID, parameters, and metric history.</a:t>
            </a:r>
            <a:endParaRPr lang="en-US" sz="940" dirty="0"/>
          </a:p>
          <a:p>
            <a:pPr marL="342900" indent="-342900">
              <a:buSzPct val="100000"/>
              <a:buChar char="•"/>
            </a:pPr>
            <a:r>
              <a:rPr lang="en-US" sz="9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prediction logs support troubleshooting.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685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3 - Reproducibility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is useful only when the team can explain and recreate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25880" y="2788920"/>
            <a:ext cx="9217152" cy="0"/>
          </a:xfrm>
          <a:prstGeom prst="line">
            <a:avLst/>
          </a:prstGeom>
          <a:noFill/>
          <a:ln w="27940">
            <a:solidFill>
              <a:srgbClr val="D7D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59152"/>
            <a:ext cx="713232" cy="713232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38658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5387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history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063240" y="2359152"/>
            <a:ext cx="713232" cy="713232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238658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46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35387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versions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257800" y="2359152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57800" y="238658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35387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versioning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452360" y="2359152"/>
            <a:ext cx="713232" cy="713232"/>
          </a:xfrm>
          <a:prstGeom prst="ellipse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238658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246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13448" y="35387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params, metrics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9646920" y="2359152"/>
            <a:ext cx="713232" cy="713232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46920" y="238658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3246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08008" y="35387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60120" y="4599432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34440" y="4782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evidence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utilities, Ray checkpoints, MLflow file URI, tracked datasets, and archived CI artifacts.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309360" y="4599432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83680" y="4782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path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65008" y="47548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large data and artifacts to DVC, object storage, or a remote MLflow server.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685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And Model Lifecycle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reproducibility layer connects data, training, evaluation, serving, and monitoring.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6112" y="1124712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BFCFF"/>
          </a:solidFill>
          <a:ln w="8890">
            <a:solidFill>
              <a:srgbClr val="E7EBF2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ayoub\Documents\BDIO\S2\Devops-MlOps\Exam projet\report\figures\ml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390" y="1307592"/>
            <a:ext cx="1985883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576072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report/figures/ml_lifecycle.png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92040" y="1298448"/>
            <a:ext cx="6263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1435608"/>
            <a:ext cx="420624" cy="420624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6360" y="146304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88152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and preprocess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5788152" y="16733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is cleaned, tokenized, and split with stratification.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92040" y="2377440"/>
            <a:ext cx="6263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2514600"/>
            <a:ext cx="420624" cy="420624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66360" y="254203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88152" y="2496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and track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5788152" y="275234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Train writes checkpoints while MLflow records params and metrics.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3456432"/>
            <a:ext cx="6263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66360" y="359359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66360" y="36210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788152" y="35753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and gate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788152" y="38313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plus class and slice metrics decide deployability.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92040" y="4535424"/>
            <a:ext cx="6263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66360" y="4672584"/>
            <a:ext cx="420624" cy="420624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166360" y="4700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788152" y="4654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 and observe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788152" y="491032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exposes predictions and Prometheus-format metrics.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68580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4 - Dockerized Jenkins CI/CD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validates both software correctness and model quality before deployment.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024128"/>
            <a:ext cx="3931920" cy="5349240"/>
          </a:xfrm>
          <a:prstGeom prst="roundRect">
            <a:avLst>
              <a:gd name="adj" fmla="val 1860"/>
            </a:avLst>
          </a:prstGeom>
          <a:solidFill>
            <a:srgbClr val="FBFCFF"/>
          </a:solidFill>
          <a:ln w="8890">
            <a:solidFill>
              <a:srgbClr val="E7EBF2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ayoub\Documents\BDIO\S2\Devops-MlOps\Exam projet\report\figures\cicd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52" y="1207008"/>
            <a:ext cx="3252416" cy="48371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173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report/figures/cicd_pipeline.png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193792" y="137160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58384" y="153619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8384" y="154990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43600" y="155448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943600" y="18105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source code from GitHub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8193024" y="137160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57616" y="153619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57616" y="154990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942832" y="155448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image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8942832" y="18105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versioned Docker image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5193792" y="260604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58384" y="277063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58384" y="278434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943600" y="27889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checks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943600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compileall, pytest, critical flake8</a:t>
            </a:r>
            <a:endParaRPr lang="en-US" sz="830" dirty="0"/>
          </a:p>
        </p:txBody>
      </p:sp>
      <p:sp>
        <p:nvSpPr>
          <p:cNvPr id="27" name="Shape 24"/>
          <p:cNvSpPr/>
          <p:nvPr/>
        </p:nvSpPr>
        <p:spPr>
          <a:xfrm>
            <a:off x="8193024" y="260604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357616" y="277063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57616" y="278434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942832" y="27889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8942832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containerized Ray training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193792" y="384048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358384" y="400507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58384" y="401878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943600" y="4023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5943600" y="42793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weighted F1 to MIN_F1</a:t>
            </a:r>
            <a:endParaRPr lang="en-US" sz="830" dirty="0"/>
          </a:p>
        </p:txBody>
      </p:sp>
      <p:sp>
        <p:nvSpPr>
          <p:cNvPr id="37" name="Shape 34"/>
          <p:cNvSpPr/>
          <p:nvPr/>
        </p:nvSpPr>
        <p:spPr>
          <a:xfrm>
            <a:off x="8193024" y="3840480"/>
            <a:ext cx="2578608" cy="822960"/>
          </a:xfrm>
          <a:prstGeom prst="roundRect">
            <a:avLst>
              <a:gd name="adj" fmla="val 8889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357616" y="4005072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57616" y="4018788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942832" y="402336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980" dirty="0"/>
          </a:p>
        </p:txBody>
      </p:sp>
      <p:sp>
        <p:nvSpPr>
          <p:cNvPr id="41" name="Text 38"/>
          <p:cNvSpPr/>
          <p:nvPr/>
        </p:nvSpPr>
        <p:spPr>
          <a:xfrm>
            <a:off x="8942832" y="42793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API and run smoke tests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5266944" y="5248656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FF9E8"/>
          </a:solidFill>
          <a:ln w="8890">
            <a:solidFill>
              <a:srgbClr val="F4E5B5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7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550408" y="5422392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7A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gate: weighted F1 = 0.20147 passed MIN_F1 = 0.15 for the fast CI run.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68580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Decision Flow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only promotes a model after the code, training job, evaluation, and smoke checks pass.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43000" y="2926080"/>
            <a:ext cx="9921240" cy="0"/>
          </a:xfrm>
          <a:prstGeom prst="line">
            <a:avLst/>
          </a:prstGeom>
          <a:noFill/>
          <a:ln w="27940">
            <a:solidFill>
              <a:srgbClr val="D7D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404872"/>
            <a:ext cx="841248" cy="841248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2432304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3858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44952" y="2404872"/>
            <a:ext cx="841248" cy="841248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44952" y="2432304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9464" y="3858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tests passed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02352" y="2404872"/>
            <a:ext cx="841248" cy="8412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02352" y="2432304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6864" y="3858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run 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59752" y="2404872"/>
            <a:ext cx="841248" cy="841248"/>
          </a:xfrm>
          <a:prstGeom prst="ellipse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59752" y="2432304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56832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3858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17152" y="2404872"/>
            <a:ext cx="841248" cy="841248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17152" y="2432304"/>
            <a:ext cx="841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14232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41664" y="38587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98348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89888" y="5166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Artifacts archived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5166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train_results.json, eval_results.json, run_id.txt, metrics_smoke.txt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492240" y="498348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84848" y="51663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choice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11312" y="513892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was selected for stable local deployment; Ray remains in training and evaluation.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68580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5 - Monitoring Architecture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deployment, the model API is measured by Prometheus and visualized in Grafana.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1078992"/>
            <a:ext cx="4846320" cy="4983480"/>
          </a:xfrm>
          <a:prstGeom prst="roundRect">
            <a:avLst>
              <a:gd name="adj" fmla="val 1509"/>
            </a:avLst>
          </a:prstGeom>
          <a:solidFill>
            <a:srgbClr val="FBFCFF"/>
          </a:solidFill>
          <a:ln w="8890">
            <a:solidFill>
              <a:srgbClr val="E7EBF2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C:\Users\ayoub\Documents\BDIO\S2\Devops-MlOps\Exam projet\report\figures\monitorin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2965" y="1261872"/>
            <a:ext cx="4019029" cy="44714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580644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from report/figures/monitoring_architecture.png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77240" y="141732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42416" y="1554480"/>
            <a:ext cx="402336" cy="402336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42416" y="15819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664208" y="1536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62656" y="1545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trains, deploys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777240" y="2496312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42416" y="2633472"/>
            <a:ext cx="402336" cy="402336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42416" y="266090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664208" y="2615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API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962656" y="26243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and exposes /metrics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777240" y="3575304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42416" y="371246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42416" y="373989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1664208" y="3694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962656" y="3703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API metrics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777240" y="4654296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42416" y="4791456"/>
            <a:ext cx="402336" cy="402336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42416" y="481888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1664208" y="4773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962656" y="4782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behavior</a:t>
            </a:r>
            <a:endParaRPr lang="en-US" sz="860" dirty="0"/>
          </a:p>
        </p:txBody>
      </p:sp>
      <p:sp>
        <p:nvSpPr>
          <p:cNvPr id="32" name="Text 29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68580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Metrics, Drift, And Findings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layer checks API health and model behavior, then guides action.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137160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1572768"/>
            <a:ext cx="438912" cy="438912"/>
          </a:xfrm>
          <a:prstGeom prst="ellipse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54480" y="1572768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8562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mlopsfull_requests_total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453128" y="137160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572768"/>
            <a:ext cx="438912" cy="438912"/>
          </a:xfrm>
          <a:prstGeom prst="ellipse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54296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57800" y="1572768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8562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request_latency_seconds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156448" y="1371600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157276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160020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61120" y="1572768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0" y="18562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predictions_total by class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49808" y="2633472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976" y="2834640"/>
            <a:ext cx="438912" cy="438912"/>
          </a:xfrm>
          <a:prstGeom prst="ellipse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976" y="28620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54480" y="283464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54480" y="311810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prediction_confidence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453128" y="2633472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54296" y="2834640"/>
            <a:ext cx="438912" cy="438912"/>
          </a:xfrm>
          <a:prstGeom prst="ellipse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54296" y="28620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57800" y="283464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quality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11810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validation_failures_total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56448" y="2633472"/>
            <a:ext cx="3127248" cy="868680"/>
          </a:xfrm>
          <a:prstGeom prst="roundRect">
            <a:avLst>
              <a:gd name="adj" fmla="val 8421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57616" y="2834640"/>
            <a:ext cx="438912" cy="438912"/>
          </a:xfrm>
          <a:prstGeom prst="ellipse">
            <a:avLst/>
          </a:prstGeom>
          <a:solidFill>
            <a:srgbClr val="0EA5A6"/>
          </a:solidFill>
          <a:ln w="12700">
            <a:solidFill>
              <a:srgbClr val="0EA5A6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1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57616" y="28620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961120" y="283464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0" y="311810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class distribution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987552" y="4526280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5FFF8"/>
          </a:solidFill>
          <a:ln w="8890">
            <a:solidFill>
              <a:srgbClr val="D8F0DF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98448" y="47365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F6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Observed demo finding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3246120" y="464515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15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handled 100 prediction requests with 0 HTTP errors, but the demo model predicted the fallback class other with low confidence. Monitoring exposed a model-quality issue, not an API failure.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And Future Improvements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12064" y="7498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the workflow locally; production hardening is the next step.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87552" y="1481328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35024" y="175564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7693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487168"/>
            <a:ext cx="35661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Docker-based stack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CI training sample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model quality in the demo run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helpers are not scheduled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routing yet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19672" y="1481328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BFCFF"/>
          </a:solidFill>
          <a:ln w="8890">
            <a:solidFill>
              <a:srgbClr val="ECEFF6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67144" y="175564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17693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improvements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8040" y="2487168"/>
            <a:ext cx="356616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longer with more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deployment thresholds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Prometheus alert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prediction events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Kubernetes or managed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Exam Project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338560" y="6428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B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70B957">
              <a:alpha val="82000"/>
            </a:srgbClr>
          </a:solidFill>
          <a:ln w="12700">
            <a:solidFill>
              <a:srgbClr val="70B9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118872"/>
            <a:ext cx="384048" cy="50292"/>
          </a:xfrm>
          <a:prstGeom prst="rect">
            <a:avLst/>
          </a:prstGeom>
          <a:solidFill>
            <a:srgbClr val="7465F3"/>
          </a:solidFill>
          <a:ln w="12700">
            <a:solidFill>
              <a:srgbClr val="7465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71432" y="118872"/>
            <a:ext cx="384048" cy="50292"/>
          </a:xfrm>
          <a:prstGeom prst="rect">
            <a:avLst/>
          </a:prstGeom>
          <a:solidFill>
            <a:srgbClr val="EC5BB8"/>
          </a:solidFill>
          <a:ln w="12700">
            <a:solidFill>
              <a:srgbClr val="EC5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82912" y="118872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94392" y="118872"/>
            <a:ext cx="384048" cy="50292"/>
          </a:xfrm>
          <a:prstGeom prst="rect">
            <a:avLst/>
          </a:prstGeom>
          <a:solidFill>
            <a:srgbClr val="F8D53D"/>
          </a:solidFill>
          <a:ln w="12700">
            <a:solidFill>
              <a:srgbClr val="F8D5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05872" y="118872"/>
            <a:ext cx="384048" cy="50292"/>
          </a:xfrm>
          <a:prstGeom prst="rect">
            <a:avLst/>
          </a:prstGeom>
          <a:solidFill>
            <a:srgbClr val="70B957"/>
          </a:solidFill>
          <a:ln w="12700">
            <a:solidFill>
              <a:srgbClr val="70B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417320"/>
            <a:ext cx="9784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1828800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465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Takeaway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267712"/>
            <a:ext cx="854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8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project is more than a trained model.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57400" y="2999232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operational workflow where code changes trigger validation, training creates tracked artifacts, deployment is gated by evaluation, and the running service is monitored after release.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53583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-&gt; Logging -&gt; Reproducibility -&gt; CI/CD -&gt; Monitoring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BDIO / ENSAM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MLOps Workflow</dc:title>
  <dc:subject>MLOps Exam Project</dc:subject>
  <dc:creator>Ayoub Moutik</dc:creator>
  <cp:lastModifiedBy>Ayoub Moutik</cp:lastModifiedBy>
  <cp:revision>1</cp:revision>
  <dcterms:created xsi:type="dcterms:W3CDTF">2026-05-22T13:29:25Z</dcterms:created>
  <dcterms:modified xsi:type="dcterms:W3CDTF">2026-05-22T13:29:25Z</dcterms:modified>
</cp:coreProperties>
</file>